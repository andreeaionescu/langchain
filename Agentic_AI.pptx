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0" y="91439"/>
            <a:ext cx="1645920" cy="164592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2651760"/>
            <a:ext cx="1097280" cy="10972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B4D8"/>
                </a:solidFill>
                <a:latin typeface="Calibri"/>
              </a:rPr>
              <a:t>Interview Preparation Guide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57400"/>
            <a:ext cx="59436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8F0FF"/>
                </a:solidFill>
                <a:latin typeface="Calibri"/>
              </a:rPr>
              <a:t>Master the concepts. Land the job.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1737360" cy="1097280"/>
          </a:xfrm>
          <a:prstGeom prst="rect">
            <a:avLst/>
          </a:prstGeom>
          <a:solidFill>
            <a:srgbClr val="1A27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300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Topic Areas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926080"/>
            <a:ext cx="1737360" cy="1097280"/>
          </a:xfrm>
          <a:prstGeom prst="rect">
            <a:avLst/>
          </a:prstGeom>
          <a:solidFill>
            <a:srgbClr val="1A27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9718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300"/>
                </a:solidFill>
                <a:latin typeface="Calibri"/>
              </a:rP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Q&amp;A Covered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926080"/>
            <a:ext cx="1737360" cy="1097280"/>
          </a:xfrm>
          <a:prstGeom prst="rect">
            <a:avLst/>
          </a:prstGeom>
          <a:solidFill>
            <a:srgbClr val="1A27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9718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300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926080"/>
            <a:ext cx="1737360" cy="1097280"/>
          </a:xfrm>
          <a:prstGeom prst="rect">
            <a:avLst/>
          </a:prstGeom>
          <a:solidFill>
            <a:srgbClr val="1A27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9718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300"/>
                </a:solidFill>
                <a:latin typeface="Calibri"/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Career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Covers: Foundations · Architecture · Safety · Statistics · Python · Model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74A"/>
                </a:solidFill>
                <a:latin typeface="Calibri"/>
              </a:rPr>
              <a:t>What is Agentic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651760" cy="4114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24712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Traditional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097280"/>
            <a:ext cx="2651760" cy="41148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1124712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Simple Chatbot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265176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1124712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Agentic AI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3619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Single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50876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3619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Turn-by-turn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508760"/>
            <a:ext cx="2651760" cy="475488"/>
          </a:xfrm>
          <a:prstGeom prst="rect">
            <a:avLst/>
          </a:prstGeom>
          <a:solidFill>
            <a:srgbClr val="E0F5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153619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74A"/>
                </a:solidFill>
                <a:latin typeface="Calibri"/>
              </a:rPr>
              <a:t>Multi-step goals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1168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03911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No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01168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203911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No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011680"/>
            <a:ext cx="2651760" cy="475488"/>
          </a:xfrm>
          <a:prstGeom prst="rect">
            <a:avLst/>
          </a:prstGeom>
          <a:solidFill>
            <a:srgbClr val="E0F5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203911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74A"/>
                </a:solidFill>
                <a:latin typeface="Calibri"/>
              </a:rPr>
              <a:t>Memory + 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1460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254203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No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251460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254203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No tools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514600"/>
            <a:ext cx="2651760" cy="475488"/>
          </a:xfrm>
          <a:prstGeom prst="rect">
            <a:avLst/>
          </a:prstGeom>
          <a:solidFill>
            <a:srgbClr val="E0F5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59" y="254203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74A"/>
                </a:solidFill>
                <a:latin typeface="Calibri"/>
              </a:rPr>
              <a:t>Tools + APIs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1752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304495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No planning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301752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304495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Reactive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017520"/>
            <a:ext cx="2651760" cy="475488"/>
          </a:xfrm>
          <a:prstGeom prst="rect">
            <a:avLst/>
          </a:prstGeom>
          <a:solidFill>
            <a:srgbClr val="E0F5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59" y="304495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74A"/>
                </a:solidFill>
                <a:latin typeface="Calibri"/>
              </a:rPr>
              <a:t>Plans &amp; adapts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2044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354787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No feedback loop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3520440"/>
            <a:ext cx="2651760" cy="475488"/>
          </a:xfrm>
          <a:prstGeom prst="rect">
            <a:avLst/>
          </a:prstGeom>
          <a:solidFill>
            <a:srgbClr val="F0F4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354787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74A"/>
                </a:solidFill>
                <a:latin typeface="Calibri"/>
              </a:rPr>
              <a:t>Prompt → Response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520440"/>
            <a:ext cx="2651760" cy="475488"/>
          </a:xfrm>
          <a:prstGeom prst="rect">
            <a:avLst/>
          </a:prstGeom>
          <a:solidFill>
            <a:srgbClr val="E0F5FF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59" y="3547872"/>
            <a:ext cx="2514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74A"/>
                </a:solidFill>
                <a:latin typeface="Calibri"/>
              </a:rPr>
              <a:t>Observe → Act → Iterate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25196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🔑  Agentic AI = LLM + Memory + Tools + Planning + Feedback Loop → Autonomous Goal Achievement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FOUNDATIONS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Core Components of an AI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920240"/>
            <a:ext cx="2194560" cy="1554480"/>
          </a:xfrm>
          <a:prstGeom prst="rect">
            <a:avLst/>
          </a:prstGeom>
          <a:solidFill>
            <a:srgbClr val="1A274A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96596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231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alibri"/>
              </a:rPr>
              <a:t>LLM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883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Reasoning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691640"/>
            <a:ext cx="2011680" cy="1371600"/>
          </a:xfrm>
          <a:prstGeom prst="rect">
            <a:avLst/>
          </a:prstGeom>
          <a:solidFill>
            <a:srgbClr val="1A27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PERCEPTION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468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/>
              </a:rPr>
              <a:t>Input: text,
tools, env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691640"/>
            <a:ext cx="2011680" cy="1371600"/>
          </a:xfrm>
          <a:prstGeom prst="rect">
            <a:avLst/>
          </a:prstGeom>
          <a:solidFill>
            <a:srgbClr val="1A274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4688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/>
              </a:rPr>
              <a:t>Execute tools,
APIs,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914400"/>
            <a:ext cx="2011680" cy="1371600"/>
          </a:xfrm>
          <a:prstGeom prst="rect">
            <a:avLst/>
          </a:prstGeom>
          <a:solidFill>
            <a:srgbClr val="1A274A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/>
              </a:rPr>
              <a:t>Short/Long-term
Episodic, Semantic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914400"/>
            <a:ext cx="2011680" cy="1371600"/>
          </a:xfrm>
          <a:prstGeom prst="rect">
            <a:avLst/>
          </a:prstGeom>
          <a:solidFill>
            <a:srgbClr val="1A274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9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1417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  <a:latin typeface="Calibri"/>
              </a:rP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0E0EF"/>
                </a:solidFill>
                <a:latin typeface="Calibri"/>
              </a:rPr>
              <a:t>Decompose goals
ReAct, ToT, CoT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1A27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224528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1. Perceive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24528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" y="4224528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2. Reason &amp;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4224528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25496" y="4224528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3. Take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31336" y="4224528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2504" y="4224528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4. Observe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8344" y="4224528"/>
            <a:ext cx="18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E0EF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2" y="4224528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5. Repeat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FOUNDATIONS ·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A"/>
                </a:solidFill>
                <a:latin typeface="Calibri"/>
              </a:rPr>
              <a:t>The ReAct Pattern: Reasoning + Acting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920240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💭 THOUGHT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Reason about
what to do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459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1" y="1097280"/>
            <a:ext cx="19202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1" y="1170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⚡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1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Call a tool,
API, or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6459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1097280"/>
            <a:ext cx="1920240" cy="164592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1170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👁 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Read the
tool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164592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03136" y="1097280"/>
            <a:ext cx="1920240" cy="16459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5" y="1170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Calibri"/>
              </a:rPr>
              <a:t>🔁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855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  <a:latin typeface="Calibri"/>
              </a:rPr>
              <a:t>Until goal
is achieved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26080"/>
            <a:ext cx="8503920" cy="187451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300"/>
                </a:solidFill>
                <a:latin typeface="Calibri"/>
              </a:rPr>
              <a:t>EXAMPLE  (Python pseudocode)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E0EF"/>
                </a:solidFill>
                <a:latin typeface="Consolas"/>
              </a:rPr>
              <a:t>Thought: "I need to find the latest AI research papers"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D6A0"/>
                </a:solidFill>
                <a:latin typeface="Consolas"/>
              </a:rPr>
              <a:t>Action: web_search("latest AI papers 2025")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4D8"/>
                </a:solidFill>
                <a:latin typeface="Consolas"/>
              </a:rPr>
              <a:t>Observation: ["Attention Is All You Need v2", "GPT-5 paper", ...]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0E0EF"/>
                </a:solidFill>
                <a:latin typeface="Consolas"/>
              </a:rPr>
              <a:t>Thought: "Now I should summarize the top 3 papers"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D6A0"/>
                </a:solidFill>
                <a:latin typeface="Consolas"/>
              </a:rPr>
              <a:t>Action: summarize(papers[:3])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C300"/>
                </a:solidFill>
                <a:latin typeface="Consolas"/>
              </a:rPr>
              <a:t>Final Answer: Here are the top 3 papers...  ✓ DONE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ARCHITECTURE ·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Memory in Agentic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60520" cy="1508760"/>
          </a:xfrm>
          <a:prstGeom prst="rect">
            <a:avLst/>
          </a:prstGeom>
          <a:solidFill>
            <a:srgbClr val="1A27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07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18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SHORT-TERM
(In-Context)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37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Current conversation &amp; task state held in the LLM context window.
Limited by token limit. Fast. Lost after session 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39" y="1207007"/>
            <a:ext cx="14630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7" y="1225295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4D8"/>
                </a:solidFill>
                <a:latin typeface="Calibri"/>
              </a:rPr>
              <a:t>Think of it as: Working 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1097280"/>
            <a:ext cx="4160520" cy="1508760"/>
          </a:xfrm>
          <a:prstGeom prst="rect">
            <a:avLst/>
          </a:prstGeom>
          <a:solidFill>
            <a:srgbClr val="1A274A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207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C300"/>
                </a:solidFill>
                <a:latin typeface="Calibri"/>
              </a:rPr>
              <a:t>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7" y="118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LONG-TERM
(External DB)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7373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Vector DBs (Pinecone, Weaviate), SQL, or key-value stores.
Persists across sessions. Semantic search enabled.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79" y="1207007"/>
            <a:ext cx="14630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7" y="1225295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4D8"/>
                </a:solidFill>
                <a:latin typeface="Calibri"/>
              </a:rPr>
              <a:t>Think of it as: Hard Drive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88920"/>
            <a:ext cx="4160520" cy="1508760"/>
          </a:xfrm>
          <a:prstGeom prst="rect">
            <a:avLst/>
          </a:prstGeom>
          <a:solidFill>
            <a:srgbClr val="1A274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98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  <a:latin typeface="Calibri"/>
              </a:rP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EPISODIC
(Past Runs)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4290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Records of previous agent runs, actions, and outcomes.
Allows learning from mistakes. Stored externally.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39" y="2898648"/>
            <a:ext cx="14630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2927" y="291693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4D8"/>
                </a:solidFill>
                <a:latin typeface="Calibri"/>
              </a:rPr>
              <a:t>Think of it as: A Diary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2788920"/>
            <a:ext cx="4160520" cy="1508760"/>
          </a:xfrm>
          <a:prstGeom prst="rect">
            <a:avLst/>
          </a:prstGeom>
          <a:solidFill>
            <a:srgbClr val="1A274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898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F476F"/>
                </a:solidFill>
                <a:latin typeface="Calibr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7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  <a:latin typeface="Calibri"/>
              </a:rPr>
              <a:t>SEMANTIC
(Knowledge)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4290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Generalized facts distilled from experience.
Pre-loaded context, RAG systems, knowledge graphs.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79" y="2898648"/>
            <a:ext cx="14630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7" y="291693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B4D8"/>
                </a:solidFill>
                <a:latin typeface="Calibri"/>
              </a:rPr>
              <a:t>Think of it as: Long-term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ARCHITECTURE ·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A"/>
                </a:solidFill>
                <a:latin typeface="Calibri"/>
              </a:rPr>
              <a:t>Multi-Agent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914400"/>
            <a:ext cx="2743200" cy="822960"/>
          </a:xfrm>
          <a:prstGeom prst="rect">
            <a:avLst/>
          </a:prstGeom>
          <a:solidFill>
            <a:srgbClr val="0F172A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  <a:latin typeface="Calibri"/>
              </a:rPr>
              <a:t>🎯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3258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Plans &amp; Coordinates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691640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358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RESEARCHER
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20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377440"/>
            <a:ext cx="1691640" cy="1234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358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CODER
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920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A0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1691640" cy="12344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358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WRITER
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920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76F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1691640" cy="12344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358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CRITIC
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9202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300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8503920" cy="59436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🌐 Web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840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🐍 Code Exec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840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📄 Doc Reader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840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📧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8404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🗄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3767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Calibri"/>
              </a:rPr>
              <a:t>TOOLS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solidFill>
            <a:srgbClr val="E0F5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5079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✅ Use multi-agent when: tasks exceed context window · parallel work needed · specialization improves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SAFETY ·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Safety, Risks &amp;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023360" cy="3657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⚠  KEY RISKS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904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🔴  Unintended irreversible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476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🔴  Prompt injection attacks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774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4048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🔴  Scope creep / over-permission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346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8620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🔴  Cascading failures (multi-agent)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918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3192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🔴  Data leakage via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49039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7764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🔴  Goal misinterpretation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07899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🛡  GUARDRAILS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4630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4904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✅  Human-in-the-loop for high-risk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9202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9476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✅  Minimal footprint principle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3774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24048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✅  Validate all tool inputs/outputs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8346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28620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✅  Separate safety classifier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291840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33192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✅  Hard limits on retries &amp; loops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3749039"/>
            <a:ext cx="4023360" cy="411480"/>
          </a:xfrm>
          <a:prstGeom prst="rect">
            <a:avLst/>
          </a:prstGeom>
          <a:solidFill>
            <a:srgbClr val="1A274A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77647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✅  Cryptographic inter-agent trust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solidFill>
            <a:srgbClr val="0F172A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261104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300"/>
                </a:solidFill>
                <a:latin typeface="Calibri"/>
              </a:rPr>
              <a:t>🔑  PROMPT INJECTION: Malicious text in the environment hijacks agent behaviour via hidden instructions. Critical risk in agentic systems because agents have REAL tools that can exfiltrate data or cause damage.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PLANNING &amp;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A"/>
                </a:solidFill>
                <a:latin typeface="Calibri"/>
              </a:rPr>
              <a:t>Planning Strategies for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Chain-of-Thought
(CoT)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733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Step-by-step reasoning before answering. Reduces hallucination. Simple &amp; powerful.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2560320" cy="2468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304288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0E0EF"/>
                </a:solidFill>
                <a:latin typeface="Calibri"/>
              </a:rPr>
              <a:t>Prompt: 'Think step by step...'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051560"/>
            <a:ext cx="2743200" cy="15544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ReAct
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6733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Thought → Action → Observation loop. Grounds reasoning in real tool outputs.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286000"/>
            <a:ext cx="2560320" cy="2468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304288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0E0EF"/>
                </a:solidFill>
                <a:latin typeface="Calibri"/>
              </a:rPr>
              <a:t>Best for: tool-using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051560"/>
            <a:ext cx="2743200" cy="1554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143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Tree of Thoughts
(ToT)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67335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Explores MULTIPLE reasoning branches simultaneously. Selects best path. Like beam 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2286000"/>
            <a:ext cx="2560320" cy="2468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304288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0E0EF"/>
                </a:solidFill>
                <a:latin typeface="Calibri"/>
              </a:rPr>
              <a:t>Best for: complex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88920"/>
            <a:ext cx="2743200" cy="1554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880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Plan &amp;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4107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Planner creates full plan upfront. Executor follows step-by-step. Predictable.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2560320" cy="2468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041648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0E0EF"/>
                </a:solidFill>
                <a:latin typeface="Calibri"/>
              </a:rPr>
              <a:t>Best for: structured tasks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2788920"/>
            <a:ext cx="2743200" cy="15544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2880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Reflexion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34107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Agent critiques its own output and iterates to improve. Self-correction loop.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4023360"/>
            <a:ext cx="2560320" cy="2468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28416" y="4041648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0E0EF"/>
                </a:solidFill>
                <a:latin typeface="Calibri"/>
              </a:rPr>
              <a:t>Best for: quality improvement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2788920"/>
            <a:ext cx="2743200" cy="15544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2880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34107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Monte Carlo Tree Search. Advanced game-style planning for long-horizon tasks.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4023360"/>
            <a:ext cx="2560320" cy="2468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4" y="4041648"/>
            <a:ext cx="2523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0E0EF"/>
                </a:solidFill>
                <a:latin typeface="Calibri"/>
              </a:rPr>
              <a:t>Best for: research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EVALUATION ·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to Evaluate Agent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1389888"/>
          </a:xfrm>
          <a:prstGeom prst="rect">
            <a:avLst/>
          </a:prstGeom>
          <a:solidFill>
            <a:srgbClr val="1A27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6128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Task Completion
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2880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Did the agent
achieve the goal?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051560"/>
            <a:ext cx="2743200" cy="1389888"/>
          </a:xfrm>
          <a:prstGeom prst="rect">
            <a:avLst/>
          </a:prstGeom>
          <a:solidFill>
            <a:srgbClr val="1A274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6D6A0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16128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Calibri"/>
              </a:rPr>
              <a:t>Step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182880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Did it avoid
unnecessary actions?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51560"/>
            <a:ext cx="2743200" cy="1389888"/>
          </a:xfrm>
          <a:prstGeom prst="rect">
            <a:avLst/>
          </a:prstGeom>
          <a:solidFill>
            <a:srgbClr val="1A274A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143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C300"/>
                </a:solidFill>
                <a:latin typeface="Calibri"/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856" y="116128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Calibri"/>
              </a:rPr>
              <a:t>Tool Use
Correctness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1828800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Right tool, right
parameters?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06039"/>
            <a:ext cx="2743200" cy="1389888"/>
          </a:xfrm>
          <a:prstGeom prst="rect">
            <a:avLst/>
          </a:prstGeom>
          <a:solidFill>
            <a:srgbClr val="1A274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6974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F476F"/>
                </a:solidFill>
                <a:latin typeface="Calibri"/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71576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  <a:latin typeface="Calibri"/>
              </a:rPr>
              <a:t>Error Recovery
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383279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How well did it
handle failures?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2606039"/>
            <a:ext cx="2743200" cy="1389888"/>
          </a:xfrm>
          <a:prstGeom prst="rect">
            <a:avLst/>
          </a:prstGeom>
          <a:solidFill>
            <a:srgbClr val="1A274A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26974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7B2FBE"/>
                </a:solidFill>
                <a:latin typeface="Calibri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7" y="271576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  <a:latin typeface="Calibri"/>
              </a:rPr>
              <a:t>Cost &amp;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3383279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Tokens used,
API call 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2606039"/>
            <a:ext cx="2743200" cy="1389888"/>
          </a:xfrm>
          <a:prstGeom prst="rect">
            <a:avLst/>
          </a:prstGeom>
          <a:solidFill>
            <a:srgbClr val="1A274A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2697479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8CAE4"/>
                </a:solidFill>
                <a:latin typeface="Calibr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271576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  <a:latin typeface="Calibri"/>
              </a:rPr>
              <a:t>Human Preference
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3383279"/>
            <a:ext cx="25237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  <a:latin typeface="Calibri"/>
              </a:rPr>
              <a:t>Subjective quality
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solidFill>
            <a:srgbClr val="1A274A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261104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⚠  Common failures: Hallucinated tool calls · Infinite loops · Context overflow · Over-reliance on single tool. Fix with: action validation · loop limits · history summarisation · tool fallbacks.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TECHNICAL SKILLS ·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A"/>
                </a:solidFill>
                <a:latin typeface="Calibri"/>
              </a:rPr>
              <a:t>Key Statistics Concepts for AI Interviews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0574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0881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Distributions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435607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Normal, Bernoulli, Poisson, Exponential.
Know PDF/PMF, mean, variance.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10515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051560"/>
            <a:ext cx="2057400" cy="32004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1175" y="10881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Hypothesis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175" y="1435607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p-value, t-test, chi-squared, ANOVA.
Type I/II errors, statistical power.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0016" y="10515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0016" y="1051560"/>
            <a:ext cx="2057400" cy="3200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0881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Bayesian 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1435607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Prior × Likelihood ∝ Posterior.
Bayes' theorem applied to model updating.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12864" y="10515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12864" y="1051560"/>
            <a:ext cx="205740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10881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Linear Algebra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1435607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Matrix ops, eigenvalues, SVD, PCA.
Foundational for deep learning.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517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51760"/>
            <a:ext cx="2057400" cy="3200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26883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Probability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035808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Conditional probability, Bayes rule,
Expectation, Variance, Covariance.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168" y="26517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2651760"/>
            <a:ext cx="2057400" cy="3200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1175" y="26883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Loss Functions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51175" y="3035808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MSE, Cross-Entropy, KL Divergence.
When to use each and why.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0016" y="26517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651760"/>
            <a:ext cx="2057400" cy="32004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4024" y="26883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Regularisation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4024" y="3035808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L1 (Lasso) vs L2 (Ridge).
Bias-variance tradeoff, overfitting.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12864" y="2651760"/>
            <a:ext cx="205740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FF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12864" y="2651760"/>
            <a:ext cx="2057400" cy="32004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76872" y="26883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3035808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Precision, Recall, F1, AUC-ROC,
Perplexity, BLEU (for LLMs).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TECHNICAL SKILLS ·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Python &amp; Frameworks for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0233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🐍  PYTHON ESSENTIALS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4023360" cy="402336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3619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async/await — essential for concurrent agent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38528"/>
            <a:ext cx="4023360" cy="402336"/>
          </a:xfrm>
          <a:prstGeom prst="rect">
            <a:avLst/>
          </a:prstGeom>
          <a:solidFill>
            <a:srgbClr val="14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6596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Pydantic — data validation for tool inputs/outputs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368296"/>
            <a:ext cx="4023360" cy="402336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3957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functools, itertools — functional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98063"/>
            <a:ext cx="4023360" cy="402336"/>
          </a:xfrm>
          <a:prstGeom prst="rect">
            <a:avLst/>
          </a:prstGeom>
          <a:solidFill>
            <a:srgbClr val="14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82549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typing — type hints for LLM function schemas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27832"/>
            <a:ext cx="4023360" cy="402336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255263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subprocess, pathlib — system interaction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599"/>
            <a:ext cx="4023360" cy="402336"/>
          </a:xfrm>
          <a:prstGeom prst="rect">
            <a:avLst/>
          </a:prstGeom>
          <a:solidFill>
            <a:srgbClr val="14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685031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pytest — testing agent behaviour end-to-end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87368"/>
            <a:ext cx="4023360" cy="402336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411480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›  logging, structlog — observability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051560"/>
            <a:ext cx="4023360" cy="411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🛠  FRAMEWORKS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508760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536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LangChain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53619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Flexible, large ecosystem. Can be over-abstracted.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1938528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LlamaIndex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196596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Excellent for RAG &amp; document-heavy agents.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368296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3957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Calibri"/>
              </a:rPr>
              <a:t>AutoGen (MS)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395728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Great for multi-agent conversation patterns.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798063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28254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CrewAI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825496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Simple role-based team workflows.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227832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3255263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BE"/>
                </a:solidFill>
                <a:latin typeface="Calibri"/>
              </a:rPr>
              <a:t>Hugging 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255263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Model hub, Transformers, PEFT, Datasets.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3657599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368503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alibri"/>
              </a:rPr>
              <a:t>OpenAI SDK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3685031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Function calling, Assistants API, streaming.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4087368"/>
            <a:ext cx="4023360" cy="402336"/>
          </a:xfrm>
          <a:prstGeom prst="rect">
            <a:avLst/>
          </a:prstGeom>
          <a:solidFill>
            <a:srgbClr val="1A274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4114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Raw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11480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  <a:latin typeface="Calibri"/>
              </a:rPr>
              <a:t>Max control. Best for production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MODEL RESEARCH ·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74A"/>
                </a:solidFill>
                <a:latin typeface="Calibri"/>
              </a:rPr>
              <a:t>Researching &amp; Testing New Models/Methods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32588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33271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
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arXiv, Papers With Code,
Hugging Face blog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71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005840"/>
            <a:ext cx="1325880" cy="1097280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033271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
Reproduce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5087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Replicate results on
benchmark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371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005840"/>
            <a:ext cx="132588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33271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
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5087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Compare vs baselines.
MMBench, HELM, GLUE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371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05840"/>
            <a:ext cx="1325880" cy="10972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033271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
Fine-tune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5087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LoRA, QLoRA, PEFT on
domain-specific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71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05840"/>
            <a:ext cx="1325880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33271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
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5087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Task metrics + cost +
latency tradeoffs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3716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005840"/>
            <a:ext cx="1325880" cy="10972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033271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
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508760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A/B test, shadow mode,
phased rollout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286000"/>
            <a:ext cx="850392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313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KEY METHODS TO KNOW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61488"/>
            <a:ext cx="2743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Fine-Tuning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3108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Full fine-tune vs LoRA/QLoRA. When to use each.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7832" y="2761488"/>
            <a:ext cx="2743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9272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RAG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9272" y="3108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Retrieval Augmented Generation. Vector search + LLM generation.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5624" y="2761488"/>
            <a:ext cx="2743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7064" y="28163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Calibri"/>
              </a:rPr>
              <a:t>RLHF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310896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Reinforcement Learning from Human Feedback. How GPT-4 was trained.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584448"/>
            <a:ext cx="2743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Prompt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39319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Zero-shot, few-shot, CoT, structured outputs, system prompts.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27832" y="3584448"/>
            <a:ext cx="2743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19272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FBE"/>
                </a:solidFill>
                <a:latin typeface="Calibri"/>
              </a:rPr>
              <a:t>Quantisation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9272" y="39319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INT8/INT4 — reduce model size. GGUF, GPTQ formats.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35624" y="3584448"/>
            <a:ext cx="2743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27064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A"/>
                </a:solidFill>
                <a:latin typeface="Calibri"/>
              </a:rPr>
              <a:t>Eval Frameworks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39319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A"/>
                </a:solidFill>
                <a:latin typeface="Calibri"/>
              </a:rPr>
              <a:t>LM-Eval-Harness, HELM, EloRating, custom evals.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PRACTICAL ·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Production Agents: Observability &amp;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1A27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🔍
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Log every:
• Tool call &amp; result
• Prompt &amp; completion
• Timestamp &amp; token count
• Error + stack trace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005840"/>
            <a:ext cx="2743200" cy="1737360"/>
          </a:xfrm>
          <a:prstGeom prst="rect">
            <a:avLst/>
          </a:prstGeom>
          <a:solidFill>
            <a:srgbClr val="1A274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0789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📊
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645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Full run trajectory
LangSmith, Arize, W&amp;B
Visualize agent path
Spot loops &amp;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6" y="1005840"/>
            <a:ext cx="2743200" cy="1737360"/>
          </a:xfrm>
          <a:prstGeom prst="rect">
            <a:avLst/>
          </a:prstGeom>
          <a:solidFill>
            <a:srgbClr val="1A274A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0789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  <a:latin typeface="Calibri"/>
              </a:rPr>
              <a:t>💸
COST MGMT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1645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Cache LLM responses
Small model routing
Set token budgets
Abort on excess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1A274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99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  <a:latin typeface="Calibri"/>
              </a:rPr>
              <a:t>⚡
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Parallelize tasks
Stream responses
Batch tool calls
Async everywhere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2926080"/>
            <a:ext cx="2743200" cy="1737360"/>
          </a:xfrm>
          <a:prstGeom prst="rect">
            <a:avLst/>
          </a:prstGeom>
          <a:solidFill>
            <a:srgbClr val="1A274A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2999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2FBE"/>
                </a:solidFill>
                <a:latin typeface="Calibri"/>
              </a:rPr>
              <a:t>🗄
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External DB by task ID
Checkpoint each step
Resume after failure
Long-running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2926080"/>
            <a:ext cx="2743200" cy="1737360"/>
          </a:xfrm>
          <a:prstGeom prst="rect">
            <a:avLst/>
          </a:prstGeom>
          <a:solidFill>
            <a:srgbClr val="1A274A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2999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  <a:latin typeface="Calibri"/>
              </a:rPr>
              <a:t>🧪
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35661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Unit: tools in isolation
Integration: agent+tools
E2E: full scenarios
Adversarial inputs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5A80"/>
                </a:solidFill>
                <a:latin typeface="Calibri"/>
              </a:rPr>
              <a:t>INTERVIEW READY ·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A"/>
                </a:solidFill>
                <a:latin typeface="Calibri"/>
              </a:rPr>
              <a:t>Top Interview Q&amp;A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41605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09728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Q: Agentic AI vs Chatbot?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63039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Agent: multi-step goals, memory, tools, planning. Chatbot: single turn, no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105156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2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79" y="1051560"/>
            <a:ext cx="4160520" cy="347472"/>
          </a:xfrm>
          <a:prstGeom prst="rect">
            <a:avLst/>
          </a:prstGeom>
          <a:solidFill>
            <a:srgbClr val="1A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19" y="109728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Q: What is ReAct?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19" y="1463039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Reasoning+Acting loop: Thought → Action → Observation → repeat until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8600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4160520" cy="3474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33172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Q: When use multi-agent?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2697480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Complex tasks, context overflow, parallel work, or specialisation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28600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79" y="2286000"/>
            <a:ext cx="4160520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19" y="233172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Q: What is prompt injection?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19" y="2697480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Malicious env content hijacks agent. Dangerous because agents have real tools.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044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20440"/>
            <a:ext cx="416052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56616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Q: Minimal footprint principle?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3931920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Request only needed permissions, prefer reversible actions, avoid side effects.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352044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79" y="3520440"/>
            <a:ext cx="4160520" cy="34747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19" y="356616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Q: How to eval an agent?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19" y="3931920"/>
            <a:ext cx="39776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A"/>
                </a:solidFill>
                <a:latin typeface="Calibri"/>
              </a:rPr>
              <a:t>Task completion, step efficiency, tool correctness, error recovery, cost, latency.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  <a:latin typeface="Calibri"/>
              </a:rPr>
              <a:t>ADVANCED · CUTTING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Advanced &amp; Cutting-Edge Topics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60520" cy="1600200"/>
          </a:xfrm>
          <a:prstGeom prst="rect">
            <a:avLst/>
          </a:prstGeom>
          <a:solidFill>
            <a:srgbClr val="1A274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73152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Long-Horizon
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Challenges: context limits, error compounding, goal drift, cost.
Solutions: hierarchical memory, periodic replanning, checkpointing.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51560"/>
            <a:ext cx="4160520" cy="1600200"/>
          </a:xfrm>
          <a:prstGeom prst="rect">
            <a:avLst/>
          </a:prstGeom>
          <a:solidFill>
            <a:srgbClr val="1A274A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51560"/>
            <a:ext cx="73152" cy="1600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16128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Calibri"/>
              </a:rPr>
              <a:t>Alignment &amp;
Corrigibility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73352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Agent must remain correctable, transparent &amp; robust as autonomy grows.
Avoid reward hacking &amp; unintended shortcuts to goals.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39"/>
            <a:ext cx="4160520" cy="1600200"/>
          </a:xfrm>
          <a:prstGeom prst="rect">
            <a:avLst/>
          </a:prstGeom>
          <a:solidFill>
            <a:srgbClr val="1A274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34639"/>
            <a:ext cx="73152" cy="1600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4436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Agentic
Scaffolding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56432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External code enabling agenthood: loop, tools, memory, prompts.
Scaffolding quality often matters more than the model itself.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2834639"/>
            <a:ext cx="4160520" cy="1600200"/>
          </a:xfrm>
          <a:prstGeom prst="rect">
            <a:avLst/>
          </a:prstGeom>
          <a:solidFill>
            <a:srgbClr val="1A274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59" y="2834639"/>
            <a:ext cx="73152" cy="1600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944368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76F"/>
                </a:solidFill>
                <a:latin typeface="Calibri"/>
              </a:rPr>
              <a:t>Future of
Software 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456432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Agents write, test, debug &amp; deploy code autonomously.
Engineers move to higher-level specification &amp; oversight roles.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YOU'RE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  <a:latin typeface="Calibri"/>
              </a:rPr>
              <a:t>Interview Success Tips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91640"/>
            <a:ext cx="59436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7772400" cy="347472"/>
          </a:xfrm>
          <a:prstGeom prst="rect">
            <a:avLst/>
          </a:prstGeom>
          <a:solidFill>
            <a:srgbClr val="1A27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385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Ground every answer in concrete examples — never stay abstract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04288"/>
            <a:ext cx="777240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2257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2257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Acknowledge trade-offs — interviewers test your thinking, not just knowledge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688336"/>
            <a:ext cx="7772400" cy="347472"/>
          </a:xfrm>
          <a:prstGeom prst="rect">
            <a:avLst/>
          </a:prstGeom>
          <a:solidFill>
            <a:srgbClr val="1A27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0662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0662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Show safety awareness — every strong AI engineer thinks about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072384"/>
            <a:ext cx="777240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9067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09067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Know your Python — be ready to code async agents &amp; tool schemas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56432"/>
            <a:ext cx="7772400" cy="347472"/>
          </a:xfrm>
          <a:prstGeom prst="rect">
            <a:avLst/>
          </a:prstGeom>
          <a:solidFill>
            <a:srgbClr val="1A27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7472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Prove statistical fluency — tie maths to model behaviour, not just theory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777240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5876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587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Research mindset — describe a model you evaluated and how you did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24528"/>
            <a:ext cx="7772400" cy="347472"/>
          </a:xfrm>
          <a:prstGeom prst="rect">
            <a:avLst/>
          </a:prstGeom>
          <a:solidFill>
            <a:srgbClr val="1A274A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24281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4281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Ask smart questions — 'How do you evaluate your agents in prod?' shows depth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45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C300"/>
                </a:solidFill>
                <a:latin typeface="Calibri"/>
              </a:rPr>
              <a:t>Good luck — you've got this!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